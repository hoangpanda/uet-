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36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0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4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6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0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5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5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9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9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9FAA-9A43-4BE3-A2B3-E84F4839D3A1}" type="datetimeFigureOut">
              <a:rPr lang="en-US" smtClean="0"/>
              <a:t>29-Jan-23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184FF-0108-4849-93A4-FB9480802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0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uongdc@vnu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C324-9EE1-4235-B306-F37D76B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55762"/>
          </a:xfrm>
        </p:spPr>
        <p:txBody>
          <a:bodyPr>
            <a:normAutofit/>
          </a:bodyPr>
          <a:lstStyle/>
          <a:p>
            <a:r>
              <a:rPr 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rời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rạc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41BBFA8-F8A4-4F43-98E4-1F256CDF4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702" y="3602038"/>
            <a:ext cx="8121534" cy="1655762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TS.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Cao C</a:t>
            </a:r>
            <a:r>
              <a:rPr lang="vi-VN" b="1" dirty="0">
                <a:cs typeface="Arial" panose="020B0604020202020204" pitchFamily="34" charset="0"/>
              </a:rPr>
              <a:t>ư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cuongdc@vnu.edu</a:t>
            </a:r>
            <a:r>
              <a:rPr lang="en-US" sz="2000" b="1" i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.vn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02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3556"/>
            <a:ext cx="7886700" cy="64008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3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238596"/>
            <a:ext cx="8804366" cy="39989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b="1" dirty="0" err="1">
                <a:latin typeface="Calibri (Body)"/>
              </a:rPr>
              <a:t>Mục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đích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môn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học</a:t>
            </a:r>
            <a:r>
              <a:rPr lang="en-AU" sz="2400" b="1" dirty="0">
                <a:latin typeface="Calibri (Body)"/>
              </a:rPr>
              <a:t>:</a:t>
            </a:r>
            <a:endParaRPr lang="en-US" sz="2400" dirty="0">
              <a:latin typeface="Calibri (Body)"/>
            </a:endParaRPr>
          </a:p>
          <a:p>
            <a:pPr marL="457200" lvl="1">
              <a:buFont typeface="Wingdings" panose="05000000000000000000" pitchFamily="2" charset="2"/>
              <a:buChar char="Ø"/>
            </a:pPr>
            <a:r>
              <a:rPr lang="en-AU" dirty="0" err="1">
                <a:latin typeface="Calibri (Body)"/>
              </a:rPr>
              <a:t>Cung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cấp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các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kiến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thức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toán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học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cơ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bản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cần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thiết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cho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ngành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Công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nghệ</a:t>
            </a:r>
            <a:r>
              <a:rPr lang="en-AU" dirty="0">
                <a:latin typeface="Calibri (Body)"/>
              </a:rPr>
              <a:t> </a:t>
            </a:r>
            <a:r>
              <a:rPr lang="en-AU" dirty="0" err="1">
                <a:latin typeface="Calibri (Body)"/>
              </a:rPr>
              <a:t>thông</a:t>
            </a:r>
            <a:r>
              <a:rPr lang="en-AU" dirty="0">
                <a:latin typeface="Calibri (Body)"/>
              </a:rPr>
              <a:t> tin.</a:t>
            </a:r>
            <a:endParaRPr lang="en-US" dirty="0">
              <a:latin typeface="Calibri (Body)"/>
            </a:endParaRPr>
          </a:p>
          <a:p>
            <a:pPr marL="457200" lvl="1">
              <a:buFont typeface="Wingdings" panose="05000000000000000000" pitchFamily="2" charset="2"/>
              <a:buChar char="Ø"/>
            </a:pPr>
            <a:r>
              <a:rPr lang="en-US" dirty="0" err="1">
                <a:latin typeface="Calibri (Body)"/>
              </a:rPr>
              <a:t>Rèn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luyện</a:t>
            </a:r>
            <a:r>
              <a:rPr lang="en-US" dirty="0">
                <a:latin typeface="Calibri (Body)"/>
              </a:rPr>
              <a:t> </a:t>
            </a:r>
            <a:r>
              <a:rPr lang="vi-VN" dirty="0">
                <a:latin typeface="Calibri (Body)"/>
              </a:rPr>
              <a:t>tư duy toán học để giải quyết các vấn đề Khoa học và Công nghệ.</a:t>
            </a:r>
            <a:endParaRPr lang="en-US" dirty="0">
              <a:latin typeface="Calibri (Body)"/>
            </a:endParaRPr>
          </a:p>
          <a:p>
            <a:pPr marL="228600" lvl="1" indent="0">
              <a:buNone/>
            </a:pPr>
            <a:endParaRPr lang="en-US" dirty="0">
              <a:latin typeface="Calibri (Body)"/>
            </a:endParaRPr>
          </a:p>
          <a:p>
            <a:pPr marL="0" indent="0">
              <a:buNone/>
            </a:pPr>
            <a:r>
              <a:rPr lang="en-AU" sz="2400" b="1" dirty="0" err="1">
                <a:latin typeface="Calibri (Body)"/>
              </a:rPr>
              <a:t>Nội</a:t>
            </a:r>
            <a:r>
              <a:rPr lang="en-AU" sz="2400" b="1" dirty="0">
                <a:latin typeface="Calibri (Body)"/>
              </a:rPr>
              <a:t> dung </a:t>
            </a:r>
            <a:r>
              <a:rPr lang="en-AU" sz="2400" b="1" dirty="0" err="1">
                <a:latin typeface="Calibri (Body)"/>
              </a:rPr>
              <a:t>môn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học</a:t>
            </a:r>
            <a:r>
              <a:rPr lang="en-AU" sz="2400" b="1" dirty="0">
                <a:latin typeface="Calibri (Body)"/>
              </a:rPr>
              <a:t>:</a:t>
            </a:r>
          </a:p>
          <a:p>
            <a:pPr marL="0" indent="0">
              <a:buNone/>
            </a:pPr>
            <a:r>
              <a:rPr lang="en-US" sz="2400" i="1" dirty="0">
                <a:latin typeface="Calibri (Body)"/>
              </a:rPr>
              <a:t>C</a:t>
            </a:r>
            <a:r>
              <a:rPr lang="vi-VN" sz="2400" i="1" dirty="0">
                <a:latin typeface="Calibri (Body)"/>
              </a:rPr>
              <a:t>ung cấp những kiến thức toán học cơ bản,</a:t>
            </a:r>
            <a:r>
              <a:rPr lang="en-US" sz="2400" i="1" dirty="0">
                <a:latin typeface="Calibri (Body)"/>
              </a:rPr>
              <a:t> bao </a:t>
            </a:r>
            <a:r>
              <a:rPr lang="en-US" sz="2400" i="1" dirty="0" err="1">
                <a:latin typeface="Calibri (Body)"/>
              </a:rPr>
              <a:t>gồm</a:t>
            </a:r>
            <a:r>
              <a:rPr lang="en-US" sz="2400" i="1" dirty="0">
                <a:latin typeface="Calibri (Body)"/>
              </a:rPr>
              <a:t>:</a:t>
            </a:r>
          </a:p>
          <a:p>
            <a:pPr marL="4572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L</a:t>
            </a:r>
            <a:r>
              <a:rPr lang="vi-VN" sz="2400" dirty="0">
                <a:latin typeface="Calibri (Body)"/>
              </a:rPr>
              <a:t>ogic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mệnh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đề</a:t>
            </a:r>
            <a:r>
              <a:rPr lang="en-US" sz="2400" dirty="0">
                <a:latin typeface="Calibri (Body)"/>
              </a:rPr>
              <a:t>, logic </a:t>
            </a:r>
            <a:r>
              <a:rPr lang="en-US" sz="2400" dirty="0" err="1">
                <a:latin typeface="Calibri (Body)"/>
              </a:rPr>
              <a:t>vị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từ</a:t>
            </a:r>
            <a:r>
              <a:rPr lang="en-US" sz="2400" dirty="0">
                <a:latin typeface="Calibri (Body)"/>
              </a:rPr>
              <a:t>.</a:t>
            </a:r>
          </a:p>
          <a:p>
            <a:pPr marL="4572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L</a:t>
            </a:r>
            <a:r>
              <a:rPr lang="vi-VN" sz="2400" dirty="0">
                <a:latin typeface="Calibri (Body)"/>
              </a:rPr>
              <a:t>ý thuyết tập hợp, </a:t>
            </a:r>
            <a:r>
              <a:rPr lang="en-US" sz="2400" dirty="0" err="1">
                <a:latin typeface="Calibri (Body)"/>
              </a:rPr>
              <a:t>hàm</a:t>
            </a:r>
            <a:r>
              <a:rPr lang="vi-VN" sz="2400" dirty="0">
                <a:latin typeface="Calibri (Body)"/>
              </a:rPr>
              <a:t>, lý thuyết số, </a:t>
            </a:r>
            <a:r>
              <a:rPr lang="en-US" sz="2400" dirty="0" err="1">
                <a:latin typeface="Calibri (Body)"/>
              </a:rPr>
              <a:t>các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phương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pháp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đếm</a:t>
            </a:r>
            <a:r>
              <a:rPr lang="en-US" sz="2400" dirty="0">
                <a:latin typeface="Calibri (Body)"/>
              </a:rPr>
              <a:t>.</a:t>
            </a:r>
          </a:p>
          <a:p>
            <a:pPr marL="4572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L</a:t>
            </a:r>
            <a:r>
              <a:rPr lang="vi-VN" sz="2400" dirty="0">
                <a:latin typeface="Calibri (Body)"/>
              </a:rPr>
              <a:t>ý thuyết đồ thị</a:t>
            </a:r>
            <a:r>
              <a:rPr lang="en-US" sz="2400" dirty="0">
                <a:latin typeface="Calibri (Body)"/>
              </a:rPr>
              <a:t>.</a:t>
            </a:r>
          </a:p>
          <a:p>
            <a:pPr marL="4572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Đ</a:t>
            </a:r>
            <a:r>
              <a:rPr lang="vi-VN" sz="2400" dirty="0">
                <a:latin typeface="Calibri (Body)"/>
              </a:rPr>
              <a:t>ại số </a:t>
            </a:r>
            <a:r>
              <a:rPr lang="en-US" sz="2400" dirty="0">
                <a:latin typeface="Calibri (Body)"/>
              </a:rPr>
              <a:t>Bool </a:t>
            </a:r>
            <a:r>
              <a:rPr lang="vi-VN" sz="2400" dirty="0">
                <a:latin typeface="Calibri (Body)"/>
              </a:rPr>
              <a:t>và mạch tổ hợp</a:t>
            </a:r>
            <a:r>
              <a:rPr lang="en-US" sz="2400" dirty="0">
                <a:latin typeface="Calibri (Body)"/>
              </a:rPr>
              <a:t>.</a:t>
            </a:r>
          </a:p>
          <a:p>
            <a:pPr marL="4572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Calibri (Body)"/>
              </a:rPr>
              <a:t>Văn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phạm</a:t>
            </a:r>
            <a:r>
              <a:rPr lang="en-US" sz="2400" dirty="0">
                <a:latin typeface="Calibri (Body)"/>
              </a:rPr>
              <a:t>, </a:t>
            </a:r>
            <a:r>
              <a:rPr lang="en-US" sz="2400" dirty="0" err="1">
                <a:latin typeface="Calibri (Body)"/>
              </a:rPr>
              <a:t>máy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hữu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hạn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trạng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thái</a:t>
            </a:r>
            <a:r>
              <a:rPr lang="en-US" sz="2400" dirty="0">
                <a:latin typeface="Calibri (Body)"/>
              </a:rPr>
              <a:t>, </a:t>
            </a:r>
            <a:r>
              <a:rPr lang="en-US" sz="2400" dirty="0" err="1">
                <a:latin typeface="Calibri (Body)"/>
              </a:rPr>
              <a:t>máy</a:t>
            </a:r>
            <a:r>
              <a:rPr lang="en-US" sz="2400" dirty="0">
                <a:latin typeface="Calibri (Body)"/>
              </a:rPr>
              <a:t> Turing</a:t>
            </a:r>
            <a:r>
              <a:rPr lang="vi-VN" sz="2400" dirty="0">
                <a:latin typeface="Calibri (Body)"/>
              </a:rPr>
              <a:t>. </a:t>
            </a:r>
          </a:p>
          <a:p>
            <a:pPr marL="0" indent="0">
              <a:buNone/>
            </a:pPr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27284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3556"/>
            <a:ext cx="7886700" cy="64008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308926"/>
            <a:ext cx="8804366" cy="3928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b="1" dirty="0" err="1">
                <a:latin typeface="Calibri (Body)"/>
              </a:rPr>
              <a:t>Điểm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tra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đánh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giá</a:t>
            </a:r>
            <a:r>
              <a:rPr lang="en-AU" sz="2400" b="1" dirty="0">
                <a:latin typeface="Calibri (Body)"/>
              </a:rPr>
              <a:t>:</a:t>
            </a:r>
            <a:endParaRPr lang="en-US" sz="2400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1" dirty="0" err="1">
                <a:latin typeface="Calibri (Body)"/>
              </a:rPr>
              <a:t>Kiểm</a:t>
            </a:r>
            <a:r>
              <a:rPr lang="en-US" sz="2400" i="1" dirty="0">
                <a:latin typeface="Calibri (Body)"/>
              </a:rPr>
              <a:t> </a:t>
            </a:r>
            <a:r>
              <a:rPr lang="en-US" sz="2400" i="1" dirty="0" err="1">
                <a:latin typeface="Calibri (Body)"/>
              </a:rPr>
              <a:t>tra</a:t>
            </a:r>
            <a:r>
              <a:rPr lang="en-US" sz="2400" i="1" dirty="0">
                <a:latin typeface="Calibri (Body)"/>
              </a:rPr>
              <a:t> </a:t>
            </a:r>
            <a:r>
              <a:rPr lang="en-US" sz="2400" i="1" dirty="0" err="1">
                <a:latin typeface="Calibri (Body)"/>
              </a:rPr>
              <a:t>giữa</a:t>
            </a:r>
            <a:r>
              <a:rPr lang="en-US" sz="2400" i="1" dirty="0">
                <a:latin typeface="Calibri (Body)"/>
              </a:rPr>
              <a:t> </a:t>
            </a:r>
            <a:r>
              <a:rPr lang="en-US" sz="2400" i="1" dirty="0" err="1">
                <a:latin typeface="Calibri (Body)"/>
              </a:rPr>
              <a:t>kỳ</a:t>
            </a:r>
            <a:r>
              <a:rPr lang="en-US" sz="2400" i="1" dirty="0">
                <a:latin typeface="Calibri (Body)"/>
              </a:rPr>
              <a:t>: 40%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1" dirty="0" err="1">
                <a:latin typeface="Calibri (Body)"/>
              </a:rPr>
              <a:t>Thi</a:t>
            </a:r>
            <a:r>
              <a:rPr lang="en-US" sz="2400" i="1" dirty="0">
                <a:latin typeface="Calibri (Body)"/>
              </a:rPr>
              <a:t> </a:t>
            </a:r>
            <a:r>
              <a:rPr lang="en-US" sz="2400" i="1" dirty="0" err="1">
                <a:latin typeface="Calibri (Body)"/>
              </a:rPr>
              <a:t>cuối</a:t>
            </a:r>
            <a:r>
              <a:rPr lang="en-US" sz="2400" i="1" dirty="0">
                <a:latin typeface="Calibri (Body)"/>
              </a:rPr>
              <a:t> </a:t>
            </a:r>
            <a:r>
              <a:rPr lang="en-US" sz="2400" i="1" dirty="0" err="1">
                <a:latin typeface="Calibri (Body)"/>
              </a:rPr>
              <a:t>kỳ</a:t>
            </a:r>
            <a:r>
              <a:rPr lang="en-US" sz="2400" i="1" dirty="0">
                <a:latin typeface="Calibri (Body)"/>
              </a:rPr>
              <a:t>: 60%</a:t>
            </a:r>
          </a:p>
          <a:p>
            <a:pPr marL="0" indent="0" algn="just">
              <a:buNone/>
            </a:pPr>
            <a:endParaRPr lang="en-AU" sz="2400" b="1" dirty="0">
              <a:latin typeface="Calibri (Body)"/>
            </a:endParaRPr>
          </a:p>
          <a:p>
            <a:pPr marL="0" indent="0" algn="just">
              <a:buNone/>
            </a:pPr>
            <a:r>
              <a:rPr lang="en-AU" sz="2400" b="1" dirty="0" err="1">
                <a:latin typeface="Calibri (Body)"/>
              </a:rPr>
              <a:t>Tài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liệu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tham</a:t>
            </a:r>
            <a:r>
              <a:rPr lang="en-AU" sz="2400" b="1" dirty="0">
                <a:latin typeface="Calibri (Body)"/>
              </a:rPr>
              <a:t> </a:t>
            </a:r>
            <a:r>
              <a:rPr lang="en-AU" sz="2400" b="1" dirty="0" err="1">
                <a:latin typeface="Calibri (Body)"/>
              </a:rPr>
              <a:t>khảo</a:t>
            </a:r>
            <a:r>
              <a:rPr lang="en-AU" sz="2400" b="1" dirty="0">
                <a:latin typeface="Calibri (Body)"/>
              </a:rPr>
              <a:t>:</a:t>
            </a:r>
            <a:endParaRPr lang="en-US" sz="2400" dirty="0">
              <a:latin typeface="Calibri (Body)"/>
            </a:endParaRPr>
          </a:p>
          <a:p>
            <a:pPr marL="0" indent="0">
              <a:buNone/>
            </a:pPr>
            <a:r>
              <a:rPr lang="de-DE" sz="2400" b="1" dirty="0">
                <a:latin typeface="Calibri (Body)"/>
              </a:rPr>
              <a:t>(1) </a:t>
            </a:r>
            <a:r>
              <a:rPr lang="de-DE" sz="2400" dirty="0">
                <a:latin typeface="Calibri (Body)"/>
              </a:rPr>
              <a:t>Toán rời rạc và ứng dụng trong tin học, </a:t>
            </a:r>
            <a:r>
              <a:rPr lang="en-US" sz="2400" dirty="0"/>
              <a:t>Kenneth</a:t>
            </a:r>
            <a:r>
              <a:rPr lang="de-DE" sz="2400" dirty="0">
                <a:latin typeface="Calibri (Body)"/>
              </a:rPr>
              <a:t> Rosen. Dịch giả: Phạm Văn Thiều, Đặng Hữu Thịnh.</a:t>
            </a:r>
            <a:endParaRPr lang="en-US" sz="2400" dirty="0">
              <a:latin typeface="Calibri (Body)"/>
            </a:endParaRPr>
          </a:p>
          <a:p>
            <a:pPr marL="0" indent="0">
              <a:buNone/>
            </a:pPr>
            <a:r>
              <a:rPr lang="de-DE" sz="2400" b="1" dirty="0">
                <a:latin typeface="Calibri (Body)"/>
              </a:rPr>
              <a:t>(2)</a:t>
            </a:r>
            <a:r>
              <a:rPr lang="de-DE" sz="2400" dirty="0">
                <a:latin typeface="Calibri (Body)"/>
              </a:rPr>
              <a:t> Bài tập toán rời rạc của Đỗ Đức Giáo.</a:t>
            </a:r>
          </a:p>
          <a:p>
            <a:pPr marL="0" indent="0">
              <a:buNone/>
            </a:pPr>
            <a:r>
              <a:rPr lang="de-DE" sz="2400" b="1" dirty="0">
                <a:latin typeface="Calibri (Body)"/>
              </a:rPr>
              <a:t>(3)</a:t>
            </a:r>
            <a:r>
              <a:rPr lang="de-DE" sz="2400" dirty="0">
                <a:latin typeface="Calibri (Body)"/>
              </a:rPr>
              <a:t> </a:t>
            </a:r>
            <a:r>
              <a:rPr lang="en-US" sz="2400" dirty="0"/>
              <a:t>Discrete mathematics and its applications, Kenneth Rosen</a:t>
            </a:r>
          </a:p>
          <a:p>
            <a:pPr marL="0" indent="0">
              <a:buNone/>
            </a:pPr>
            <a:endParaRPr lang="en-AU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6876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504</TotalTime>
  <Words>211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(Body)</vt:lpstr>
      <vt:lpstr>Calibri Light</vt:lpstr>
      <vt:lpstr>Wingdings</vt:lpstr>
      <vt:lpstr>Office Theme</vt:lpstr>
      <vt:lpstr>Toán học rời rạc</vt:lpstr>
      <vt:lpstr>Giới thiệu môn học</vt:lpstr>
      <vt:lpstr>Đánh giá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môn học: Toán rời rạc TS. Đỗ Đức Đông (dongdoduc@gmail.com)</dc:title>
  <dc:creator>Dong Do</dc:creator>
  <cp:lastModifiedBy>cuong</cp:lastModifiedBy>
  <cp:revision>28</cp:revision>
  <dcterms:created xsi:type="dcterms:W3CDTF">2017-04-25T17:29:03Z</dcterms:created>
  <dcterms:modified xsi:type="dcterms:W3CDTF">2023-01-29T03:43:23Z</dcterms:modified>
</cp:coreProperties>
</file>